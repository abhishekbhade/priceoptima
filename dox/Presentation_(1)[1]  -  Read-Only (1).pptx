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7" r:id="rId7"/>
    <p:sldId id="260" r:id="rId8"/>
    <p:sldId id="262" r:id="rId9"/>
    <p:sldId id="263" r:id="rId10"/>
    <p:sldId id="264" r:id="rId11"/>
    <p:sldId id="268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7" d="100"/>
          <a:sy n="57" d="100"/>
        </p:scale>
        <p:origin x="1680" y="5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318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63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2045" y="243312"/>
            <a:ext cx="8991600" cy="1645920"/>
          </a:xfrm>
        </p:spPr>
        <p:txBody>
          <a:bodyPr/>
          <a:lstStyle/>
          <a:p>
            <a:r>
              <a:rPr lang="en-US" sz="3600" b="1" dirty="0"/>
              <a:t>AI-Powered Competitor                   Price Tracker And Optimizer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7065" y="3954473"/>
            <a:ext cx="6801612" cy="2028591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800" dirty="0">
                <a:solidFill>
                  <a:schemeClr val="tx1"/>
                </a:solidFill>
              </a:rPr>
              <a:t>Presented by:</a:t>
            </a:r>
            <a:endParaRPr lang="en-US" sz="2800" dirty="0">
              <a:solidFill>
                <a:schemeClr val="tx1"/>
              </a:solidFill>
            </a:endParaRPr>
          </a:p>
          <a:p>
            <a:pPr algn="l"/>
            <a:r>
              <a:rPr lang="en-US" sz="2800" dirty="0">
                <a:solidFill>
                  <a:schemeClr val="tx1"/>
                </a:solidFill>
              </a:rPr>
              <a:t>1. Kapish Kumar Srivastava(231B155)</a:t>
            </a:r>
            <a:endParaRPr lang="en-US" sz="2800" dirty="0">
              <a:solidFill>
                <a:schemeClr val="tx1"/>
              </a:solidFill>
            </a:endParaRPr>
          </a:p>
          <a:p>
            <a:pPr algn="l"/>
            <a:r>
              <a:rPr lang="en-US" sz="2800" dirty="0">
                <a:solidFill>
                  <a:schemeClr val="tx1"/>
                </a:solidFill>
              </a:rPr>
              <a:t>2. Abhishek </a:t>
            </a:r>
            <a:r>
              <a:rPr lang="en-US" sz="2800" dirty="0" err="1">
                <a:solidFill>
                  <a:schemeClr val="tx1"/>
                </a:solidFill>
              </a:rPr>
              <a:t>Bhade</a:t>
            </a:r>
            <a:r>
              <a:rPr lang="en-US" sz="2800" dirty="0">
                <a:solidFill>
                  <a:schemeClr val="tx1"/>
                </a:solidFill>
              </a:rPr>
              <a:t>(231B006)</a:t>
            </a:r>
            <a:endParaRPr lang="en-US" sz="2800" dirty="0">
              <a:solidFill>
                <a:schemeClr val="tx1"/>
              </a:solidFill>
            </a:endParaRPr>
          </a:p>
          <a:p>
            <a:pPr algn="l"/>
            <a:r>
              <a:rPr lang="en-US" sz="2800" dirty="0">
                <a:solidFill>
                  <a:schemeClr val="tx1"/>
                </a:solidFill>
              </a:rPr>
              <a:t>3. Shevya Singh(231B310)</a:t>
            </a:r>
            <a:endParaRPr lang="en-IN" sz="2800" dirty="0">
              <a:solidFill>
                <a:schemeClr val="tx1"/>
              </a:solidFill>
            </a:endParaRPr>
          </a:p>
          <a:p>
            <a:endParaRPr lang="en-IN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7628677" y="3954473"/>
            <a:ext cx="45130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Project guide : prof. Sanjay Garg</a:t>
            </a:r>
            <a:endParaRPr lang="en-US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r>
              <a:rPr lang="en-US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Project number : SG9</a:t>
            </a:r>
            <a:endParaRPr lang="en-IN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6249" y="2146023"/>
            <a:ext cx="1659501" cy="19736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8714" y="1007524"/>
            <a:ext cx="7729728" cy="118872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AI-Powered Price Optimization: A Competitive Edge for Ecommerce</a:t>
            </a:r>
            <a:endParaRPr lang="en-IN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Pricing is key to success in today’s online market.</a:t>
            </a:r>
            <a:endParaRPr lang="en-US" altLang="en-US" sz="2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Our AI tool helps e-commerce brands set smarter          prices and stay competitive.</a:t>
            </a:r>
            <a:endParaRPr lang="en-US" altLang="en-US" sz="2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We’ll share our approach, key features, and real benefits for retailers and customers.</a:t>
            </a:r>
            <a:endParaRPr lang="en-US" altLang="en-US" sz="2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IN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Problem Statement</a:t>
            </a:r>
            <a:endParaRPr lang="en-I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2231390" y="2255520"/>
            <a:ext cx="7729855" cy="4277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Problem: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Local electronics retailers are losing customers who check prices on their phones while in the store. This is called showrooming.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	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The Cause: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Pricing Asymmetry. Online retailers use dynamic, hourly pricing based on algorithms, while local shops use static pricing.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	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The Consequence: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Retailers cannot determine the actual "price to beat" without manual effort, leading to lost sales and sacrificed profit margins.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Motivation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390" y="2240280"/>
            <a:ext cx="7729855" cy="4211955"/>
          </a:xfrm>
        </p:spPr>
        <p:txBody>
          <a:bodyPr>
            <a:noAutofit/>
          </a:bodyPr>
          <a:lstStyle/>
          <a:p>
            <a:r>
              <a:rPr lang="en-US" sz="2400" b="1" dirty="0"/>
              <a:t>Price drives success in e-commerce</a:t>
            </a:r>
            <a:r>
              <a:rPr lang="en-US" sz="2400" dirty="0"/>
              <a:t> →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Customers want the best deals, and retailers must stay competitive.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2400" b="1" dirty="0"/>
              <a:t>Manual tracking fails</a:t>
            </a:r>
            <a:r>
              <a:rPr lang="en-US" sz="2400" dirty="0"/>
              <a:t> →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Slow, error-prone, and not scalable for today’s fast-changing market.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2400" b="1" dirty="0"/>
              <a:t>AI + Automation is the answer</a:t>
            </a:r>
            <a:r>
              <a:rPr lang="en-US" sz="2400" dirty="0"/>
              <a:t> →</a:t>
            </a:r>
            <a:b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Customers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→ Easily find the best prices.</a:t>
            </a:r>
            <a:b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Retailers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→ Dynamically optimize pricing to maximize profit.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3"/>
            <a:r>
              <a:rPr lang="en-US" sz="2400" b="1" dirty="0"/>
              <a:t>Relevance</a:t>
            </a:r>
            <a:r>
              <a:rPr lang="en-US" sz="2400" dirty="0"/>
              <a:t> →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Growing demand for AI-driven pricing makes this solution timely and impactful.</a:t>
            </a:r>
            <a:br>
              <a:rPr lang="en-US" sz="2400" dirty="0"/>
            </a:br>
            <a:endParaRPr lang="en-IN" sz="2400" dirty="0"/>
          </a:p>
          <a:p>
            <a:endParaRPr lang="en-IN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Existing Limitations &amp; Our Goal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2400" b="1"/>
              <a:t>Manual Checking: </a:t>
            </a:r>
            <a:r>
              <a:rPr lang="en-US" altLang="en-US" sz="2400"/>
              <a:t>Inefficient, outdated instantly, and impossible for large inventories.	</a:t>
            </a:r>
            <a:endParaRPr lang="en-US" altLang="en-US" sz="2400"/>
          </a:p>
          <a:p>
            <a:r>
              <a:rPr lang="en-US" altLang="en-US" sz="2400" b="1"/>
              <a:t>Enterprise Platforms: </a:t>
            </a:r>
            <a:r>
              <a:rPr lang="en-US" altLang="en-US" sz="2400"/>
              <a:t>Too expensive and complex for a small shop owner.	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	</a:t>
            </a:r>
            <a:endParaRPr lang="en-US" altLang="en-US" sz="2400"/>
          </a:p>
          <a:p>
            <a:r>
              <a:rPr lang="en-US" altLang="en-US" sz="2400" b="1"/>
              <a:t>Our Goal: </a:t>
            </a:r>
            <a:r>
              <a:rPr lang="en-US" altLang="en-US" sz="2400"/>
              <a:t>To provide a single, actionable AI Competitive Price Guideline that is reliable, real-time, and easy for the retailer to use.</a:t>
            </a:r>
            <a:endParaRPr lang="en-US" alt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583436" y="2439163"/>
            <a:ext cx="4270248" cy="704087"/>
          </a:xfrm>
        </p:spPr>
        <p:txBody>
          <a:bodyPr>
            <a:normAutofit/>
          </a:bodyPr>
          <a:lstStyle/>
          <a:p>
            <a:r>
              <a:rPr lang="en-IN" sz="2000" dirty="0"/>
              <a:t>Technical Feasibility</a:t>
            </a:r>
            <a:endParaRPr lang="en-IN" sz="2000" dirty="0"/>
          </a:p>
          <a:p>
            <a:endParaRPr lang="en-IN" sz="20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29934" y="2439163"/>
            <a:ext cx="4270248" cy="704087"/>
          </a:xfrm>
        </p:spPr>
        <p:txBody>
          <a:bodyPr>
            <a:normAutofit/>
          </a:bodyPr>
          <a:lstStyle/>
          <a:p>
            <a:r>
              <a:rPr lang="en-IN" sz="2000" dirty="0"/>
              <a:t>Economic Feasibility</a:t>
            </a:r>
            <a:endParaRPr lang="en-IN" sz="2000" dirty="0"/>
          </a:p>
          <a:p>
            <a:endParaRPr lang="en-IN" sz="20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Feasibility</a:t>
            </a:r>
            <a:endParaRPr lang="en-IN" dirty="0"/>
          </a:p>
        </p:txBody>
      </p:sp>
      <p:sp>
        <p:nvSpPr>
          <p:cNvPr id="7" name="Rectangle 1"/>
          <p:cNvSpPr>
            <a:spLocks noGrp="1" noChangeArrowheads="1"/>
          </p:cNvSpPr>
          <p:nvPr>
            <p:ph sz="half" idx="2"/>
          </p:nvPr>
        </p:nvSpPr>
        <p:spPr bwMode="auto">
          <a:xfrm>
            <a:off x="2062284" y="3143250"/>
            <a:ext cx="37914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Easily achievable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with Python libraries (ML, web scraping)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Powered by modern web technologies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sz="quarter" idx="4"/>
          </p:nvPr>
        </p:nvSpPr>
        <p:spPr bwMode="auto">
          <a:xfrm>
            <a:off x="6338318" y="3164928"/>
            <a:ext cx="427024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Minimal cost implementation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Uses widely available open-source tools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Built on accessible platforms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Tool &amp; Technology Stack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2300748" y="2458065"/>
            <a:ext cx="76601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Our solution is built on a robust, open-source technology stack, ensuring flexibility, cost-effectiveness, and scalability</a:t>
            </a:r>
            <a:endParaRPr lang="en-IN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002" y="3429000"/>
            <a:ext cx="2322576" cy="14277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380" y="3429000"/>
            <a:ext cx="2322576" cy="14277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526" y="3428999"/>
            <a:ext cx="2322576" cy="13976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4672" y="3398954"/>
            <a:ext cx="2371225" cy="14277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35002" y="5035414"/>
            <a:ext cx="2322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Python </a:t>
            </a:r>
            <a:endParaRPr lang="en-US" b="1" dirty="0"/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Core language for AI/ML and scripting.</a:t>
            </a:r>
            <a:endParaRPr lang="en-I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3281088" y="4996639"/>
            <a:ext cx="23225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SQL</a:t>
            </a:r>
            <a:endParaRPr lang="en-US" b="1" dirty="0"/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 efficient data management and storage.</a:t>
            </a:r>
            <a:endParaRPr lang="en-I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6027174" y="5035414"/>
            <a:ext cx="2322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Scikit-learn</a:t>
            </a:r>
            <a:endParaRPr lang="en-US" b="1" dirty="0"/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Fundamental machine learning algorithms.</a:t>
            </a:r>
            <a:endParaRPr lang="en-I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8584671" y="5016145"/>
            <a:ext cx="237122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Beautiful Soup / selenium </a:t>
            </a:r>
            <a:endParaRPr lang="en-US" b="1" dirty="0"/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Powerful web scraping tools for data extraction.</a:t>
            </a:r>
            <a:endParaRPr lang="en-I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3149" y="523613"/>
            <a:ext cx="7729728" cy="1188720"/>
          </a:xfrm>
        </p:spPr>
        <p:txBody>
          <a:bodyPr/>
          <a:lstStyle/>
          <a:p>
            <a:r>
              <a:rPr lang="en-US" dirty="0"/>
              <a:t>system architecture</a:t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3150" y="1624184"/>
            <a:ext cx="7729727" cy="41319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 Box 3"/>
          <p:cNvSpPr txBox="1"/>
          <p:nvPr/>
        </p:nvSpPr>
        <p:spPr>
          <a:xfrm>
            <a:off x="3352165" y="3678555"/>
            <a:ext cx="804545" cy="229870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p>
            <a:r>
              <a:rPr lang="en-US" sz="900"/>
              <a:t>selenium 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done till now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Completed model training </a:t>
            </a:r>
            <a:endParaRPr lang="en-US" sz="2000" dirty="0"/>
          </a:p>
          <a:p>
            <a:r>
              <a:rPr lang="en-US" sz="2000" dirty="0"/>
              <a:t>Created web interface </a:t>
            </a:r>
            <a:endParaRPr lang="en-US" sz="2000" dirty="0"/>
          </a:p>
          <a:p>
            <a:r>
              <a:rPr lang="en-US" sz="2000" dirty="0"/>
              <a:t>Integrated Bots </a:t>
            </a:r>
            <a:endParaRPr lang="en-US" sz="2000" dirty="0"/>
          </a:p>
          <a:p>
            <a:r>
              <a:rPr lang="en-US" sz="2000" dirty="0"/>
              <a:t>Finalized the Project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web interface</a:t>
            </a:r>
            <a:endParaRPr lang="en-US"/>
          </a:p>
        </p:txBody>
      </p:sp>
      <p:pic>
        <p:nvPicPr>
          <p:cNvPr id="5" name="Content Placeholder 4" descr="Screenshot 2025-11-18 232021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607060" y="2637790"/>
            <a:ext cx="5083810" cy="3065780"/>
          </a:xfrm>
          <a:prstGeom prst="rect">
            <a:avLst/>
          </a:prstGeom>
        </p:spPr>
      </p:pic>
      <p:pic>
        <p:nvPicPr>
          <p:cNvPr id="6" name="Content Placeholder 5" descr="Screenshot 2025-11-19 002130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38570" y="2637155"/>
            <a:ext cx="5132705" cy="30664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N" dirty="0"/>
              <a:t>Results</a:t>
            </a:r>
            <a:endParaRPr lang="en-US" altLang="en-IN" dirty="0"/>
          </a:p>
        </p:txBody>
      </p:sp>
      <p:pic>
        <p:nvPicPr>
          <p:cNvPr id="4" name="Content Placeholder 3"/>
          <p:cNvPicPr>
            <a:picLocks noChangeAspect="1"/>
          </p:cNvPicPr>
          <p:nvPr>
            <p:ph sz="half" idx="1"/>
          </p:nvPr>
        </p:nvPicPr>
        <p:blipFill>
          <a:blip r:embed="rId1"/>
          <a:srcRect l="-63" r="-620"/>
          <a:stretch>
            <a:fillRect/>
          </a:stretch>
        </p:blipFill>
        <p:spPr>
          <a:xfrm>
            <a:off x="679450" y="2780030"/>
            <a:ext cx="5222240" cy="2432050"/>
          </a:xfrm>
        </p:spPr>
      </p:pic>
      <p:pic>
        <p:nvPicPr>
          <p:cNvPr id="5" name="Content Placeholder 4" descr="6_actual_vs_predicted"/>
          <p:cNvPicPr>
            <a:picLocks noChangeAspect="1"/>
          </p:cNvPicPr>
          <p:nvPr>
            <p:ph sz="half" idx="2"/>
          </p:nvPr>
        </p:nvPicPr>
        <p:blipFill>
          <a:blip r:embed="rId2"/>
          <a:srcRect l="4118" r="4118"/>
          <a:stretch>
            <a:fillRect/>
          </a:stretch>
        </p:blipFill>
        <p:spPr>
          <a:xfrm>
            <a:off x="6750050" y="2637790"/>
            <a:ext cx="4269740" cy="3101975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0</TotalTime>
  <Words>2464</Words>
  <Application>WPS Presentation</Application>
  <PresentationFormat>Widescreen</PresentationFormat>
  <Paragraphs>95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Cascadia Mono SemiBold</vt:lpstr>
      <vt:lpstr>Arimo Bold</vt:lpstr>
      <vt:lpstr>Segoe Print</vt:lpstr>
      <vt:lpstr>Gill Sans MT</vt:lpstr>
      <vt:lpstr>Microsoft YaHei</vt:lpstr>
      <vt:lpstr>Arial Unicode MS</vt:lpstr>
      <vt:lpstr>Calibri</vt:lpstr>
      <vt:lpstr>Parcel</vt:lpstr>
      <vt:lpstr>AI-Powered Competitor                   Price Tracker And Optimizer</vt:lpstr>
      <vt:lpstr>AI-Powered Price Optimization: A Competitive Edge for Ecommerce</vt:lpstr>
      <vt:lpstr>Problem Statement</vt:lpstr>
      <vt:lpstr>Motivation</vt:lpstr>
      <vt:lpstr>PowerPoint 演示文稿</vt:lpstr>
      <vt:lpstr>Project Feasibility</vt:lpstr>
      <vt:lpstr>Tool &amp; Technology Stack</vt:lpstr>
      <vt:lpstr>system architecture</vt:lpstr>
      <vt:lpstr>Work done till now</vt:lpstr>
      <vt:lpstr>PowerPoint 演示文稿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shevya singh</dc:creator>
  <cp:lastModifiedBy>abhishek bhade</cp:lastModifiedBy>
  <cp:revision>5</cp:revision>
  <dcterms:created xsi:type="dcterms:W3CDTF">2025-09-10T10:43:00Z</dcterms:created>
  <dcterms:modified xsi:type="dcterms:W3CDTF">2025-11-20T03:57:55Z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F997F492EE1D498CBFF19F1B801B364A_12</vt:lpwstr>
  </property>
  <property fmtid="{D5CDD505-2E9C-101B-9397-08002B2CF9AE}" pid="3" name="KSOProductBuildVer">
    <vt:lpwstr>1033-12.2.0.23149</vt:lpwstr>
  </property>
</Properties>
</file>